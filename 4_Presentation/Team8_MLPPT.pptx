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sldIdLst>
    <p:sldId id="256" r:id="rId2"/>
    <p:sldId id="257" r:id="rId3"/>
    <p:sldId id="268" r:id="rId4"/>
    <p:sldId id="259" r:id="rId5"/>
    <p:sldId id="269" r:id="rId6"/>
    <p:sldId id="261" r:id="rId7"/>
    <p:sldId id="270" r:id="rId8"/>
    <p:sldId id="276" r:id="rId9"/>
    <p:sldId id="262" r:id="rId10"/>
    <p:sldId id="263" r:id="rId11"/>
    <p:sldId id="274" r:id="rId12"/>
    <p:sldId id="265" r:id="rId13"/>
    <p:sldId id="266" r:id="rId14"/>
    <p:sldId id="267" r:id="rId15"/>
    <p:sldId id="272" r:id="rId16"/>
    <p:sldId id="273" r:id="rId17"/>
    <p:sldId id="271" r:id="rId18"/>
    <p:sldId id="275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61EAD-C818-6566-28DA-78B62094509D}" v="16" dt="2026-01-08T08:56:18.820"/>
    <p1510:client id="{18A917E6-4482-9F3D-EA31-14AF310B1CC7}" v="21" dt="2026-01-07T09:22:42.900"/>
    <p1510:client id="{74751FC0-8EA6-0DAD-BA11-FEE33B7494E9}" v="16" dt="2026-01-08T14:44:51.361"/>
    <p1510:client id="{7C0ED238-4BA2-1AD9-D4F6-CBBDDB2D4BD3}" v="66" dt="2026-01-08T05:06:26.762"/>
    <p1510:client id="{AC6E008F-E054-B2DC-450C-A849168C5DDF}" v="73" dt="2026-01-08T16:25:34.996"/>
    <p1510:client id="{D0053747-B07A-50B9-22BD-D7B82AF66ECF}" v="422" dt="2026-01-08T10:14:26.707"/>
    <p1510:client id="{F03F185E-4204-09A3-B668-539A1124BF74}" v="564" dt="2026-01-06T20:46:18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6937998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1180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125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3490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4133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882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5281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1046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6098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664484458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06716042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67177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E586-3EE3-8B3B-2CE0-1CB920C36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246" y="624010"/>
            <a:ext cx="9144000" cy="2187031"/>
          </a:xfrm>
        </p:spPr>
        <p:txBody>
          <a:bodyPr>
            <a:normAutofit/>
          </a:bodyPr>
          <a:lstStyle/>
          <a:p>
            <a:r>
              <a:rPr lang="en-US" sz="4000"/>
              <a:t>Predicting bakery sales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2F956-EFE9-CA7F-5063-3A66AAA76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818" y="3933951"/>
            <a:ext cx="9766274" cy="19227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Team 8</a:t>
            </a:r>
          </a:p>
          <a:p>
            <a:r>
              <a:rPr lang="en-US"/>
              <a:t>Chetna </a:t>
            </a:r>
            <a:r>
              <a:rPr lang="en-US" err="1"/>
              <a:t>Lourembam</a:t>
            </a:r>
            <a:r>
              <a:rPr lang="en-US"/>
              <a:t> </a:t>
            </a:r>
          </a:p>
          <a:p>
            <a:r>
              <a:rPr lang="en-US"/>
              <a:t>Joao Vicente de Camargo </a:t>
            </a:r>
          </a:p>
          <a:p>
            <a:r>
              <a:rPr lang="en-US"/>
              <a:t>Vaishali Vinod</a:t>
            </a:r>
          </a:p>
          <a:p>
            <a:endParaRPr lang="en-US"/>
          </a:p>
        </p:txBody>
      </p:sp>
      <p:pic>
        <p:nvPicPr>
          <p:cNvPr id="4" name="Picture 3" descr="A basket of bread and a tablet on a table&#10;&#10;AI-generated content may be incorrect.">
            <a:extLst>
              <a:ext uri="{FF2B5EF4-FFF2-40B4-BE49-F238E27FC236}">
                <a16:creationId xmlns:a16="http://schemas.microsoft.com/office/drawing/2014/main" id="{C1D3ECE1-012E-3E91-D35C-2665847A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783" y="2417762"/>
            <a:ext cx="6388101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3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486B-B91C-FF95-7A38-16D5586D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D6A9C-CAAE-267D-66CC-F332D1ACB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31116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j-lt"/>
                <a:cs typeface="+mj-lt"/>
              </a:rPr>
              <a:t>Daily sales</a:t>
            </a:r>
            <a:r>
              <a:rPr lang="en-US">
                <a:ea typeface="+mj-lt"/>
                <a:cs typeface="+mj-lt"/>
              </a:rPr>
              <a:t> for multiple </a:t>
            </a:r>
            <a:r>
              <a:rPr lang="en-US" b="1">
                <a:ea typeface="+mj-lt"/>
                <a:cs typeface="+mj-lt"/>
              </a:rPr>
              <a:t>product groups</a:t>
            </a:r>
          </a:p>
          <a:p>
            <a:r>
              <a:rPr lang="en-US" b="1">
                <a:ea typeface="+mj-lt"/>
                <a:cs typeface="+mj-lt"/>
              </a:rPr>
              <a:t>Weather data</a:t>
            </a:r>
            <a:r>
              <a:rPr lang="en-US">
                <a:ea typeface="+mj-lt"/>
                <a:cs typeface="+mj-lt"/>
              </a:rPr>
              <a:t> and </a:t>
            </a:r>
            <a:r>
              <a:rPr lang="en-US" b="1">
                <a:ea typeface="+mj-lt"/>
                <a:cs typeface="+mj-lt"/>
              </a:rPr>
              <a:t>Kieler </a:t>
            </a:r>
            <a:r>
              <a:rPr lang="en-US" b="1" err="1">
                <a:ea typeface="+mj-lt"/>
                <a:cs typeface="+mj-lt"/>
              </a:rPr>
              <a:t>Woche</a:t>
            </a:r>
            <a:r>
              <a:rPr lang="en-US" b="1">
                <a:ea typeface="+mj-lt"/>
                <a:cs typeface="+mj-lt"/>
              </a:rPr>
              <a:t> sales</a:t>
            </a:r>
            <a:endParaRPr lang="en-US"/>
          </a:p>
          <a:p>
            <a:r>
              <a:rPr lang="en-US" b="1">
                <a:ea typeface="+mj-lt"/>
                <a:cs typeface="+mj-lt"/>
              </a:rPr>
              <a:t>Seasonality &amp; routine effects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52F20-1780-1ABA-ACAE-39067E19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B218D-23E7-CAD2-8645-EF460CF8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4748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DD93-2B21-3EA7-008B-F34CBA571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focused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19F98-C1A0-E787-0BB9-5F1D10282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j-lt"/>
                <a:cs typeface="+mj-lt"/>
              </a:rPr>
              <a:t>Sales momentum</a:t>
            </a:r>
            <a:r>
              <a:rPr lang="en-US">
                <a:ea typeface="+mj-lt"/>
                <a:cs typeface="+mj-lt"/>
              </a:rPr>
              <a:t> – lags &amp; rolling averages</a:t>
            </a:r>
          </a:p>
          <a:p>
            <a:r>
              <a:rPr lang="en-US" b="1">
                <a:ea typeface="+mj-lt"/>
                <a:cs typeface="+mj-lt"/>
              </a:rPr>
              <a:t>Cyclical routines</a:t>
            </a:r>
            <a:r>
              <a:rPr lang="en-US">
                <a:ea typeface="+mj-lt"/>
                <a:cs typeface="+mj-lt"/>
              </a:rPr>
              <a:t> – weekday patterns encoded</a:t>
            </a:r>
            <a:endParaRPr lang="en-US"/>
          </a:p>
          <a:p>
            <a:r>
              <a:rPr lang="en-US" b="1">
                <a:ea typeface="+mj-lt"/>
                <a:cs typeface="+mj-lt"/>
              </a:rPr>
              <a:t>Product-group-specific behavior</a:t>
            </a:r>
          </a:p>
          <a:p>
            <a:r>
              <a:rPr lang="en-US" b="1">
                <a:ea typeface="+mj-lt"/>
                <a:cs typeface="+mj-lt"/>
              </a:rPr>
              <a:t>Best vs worst prediction cases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C00A-C1A5-5DB4-569A-6B82F3AE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228E7-51E3-45FF-A1EF-081FE87349F8}" type="datetime1"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FFCFF-E6CB-D3C9-A2DC-C0B52E19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65D561-201E-0D0F-AE87-4C69992D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pic>
        <p:nvPicPr>
          <p:cNvPr id="5" name="Picture 4" descr="Cartoon of kids walking in front of a bakery&#10;&#10;AI-generated content may be incorrect.">
            <a:extLst>
              <a:ext uri="{FF2B5EF4-FFF2-40B4-BE49-F238E27FC236}">
                <a16:creationId xmlns:a16="http://schemas.microsoft.com/office/drawing/2014/main" id="{ACBF17AF-4B5C-64FB-683B-8B5EE56C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295" y="3191252"/>
            <a:ext cx="5375124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0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C129-D76B-1C84-BC0F-62F26AFA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0D72-4115-BC88-D767-F73090EDB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ea typeface="+mj-lt"/>
                <a:cs typeface="+mj-lt"/>
              </a:rPr>
              <a:t>📊 Weather variables: median imputation</a:t>
            </a:r>
            <a:br>
              <a:rPr lang="en-US" sz="2400">
                <a:ea typeface="+mj-lt"/>
                <a:cs typeface="+mj-lt"/>
              </a:rPr>
            </a:br>
            <a:r>
              <a:rPr lang="en-US" sz="2400">
                <a:ea typeface="+mj-lt"/>
                <a:cs typeface="+mj-lt"/>
              </a:rPr>
              <a:t> 📊 Weather codes: mode imputation</a:t>
            </a:r>
            <a:br>
              <a:rPr lang="en-US" sz="2400">
                <a:ea typeface="+mj-lt"/>
                <a:cs typeface="+mj-lt"/>
              </a:rPr>
            </a:br>
            <a:r>
              <a:rPr lang="en-US" sz="2400">
                <a:ea typeface="+mj-lt"/>
                <a:cs typeface="+mj-lt"/>
              </a:rPr>
              <a:t> ⛵️ Event flags: filled with 0</a:t>
            </a:r>
            <a:br>
              <a:rPr lang="en-US" sz="2400">
                <a:ea typeface="+mj-lt"/>
                <a:cs typeface="+mj-lt"/>
              </a:rPr>
            </a:br>
            <a:r>
              <a:rPr lang="en-US" sz="2400">
                <a:ea typeface="+mj-lt"/>
                <a:cs typeface="+mj-lt"/>
              </a:rPr>
              <a:t> 📈 Recent Sales Momentum: dropped initial rows</a:t>
            </a: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68DE6-BD85-97A9-454C-45A2590B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4FF93-FCD9-9451-20BA-F35E63B8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1364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3AF1-395E-8A30-81B4-62571CC5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Self-created variables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F923809-FE41-8FC7-90C6-646B121F3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097983"/>
              </p:ext>
            </p:extLst>
          </p:nvPr>
        </p:nvGraphicFramePr>
        <p:xfrm>
          <a:off x="808038" y="2318313"/>
          <a:ext cx="10358435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497916">
                  <a:extLst>
                    <a:ext uri="{9D8B030D-6E8A-4147-A177-3AD203B41FA5}">
                      <a16:colId xmlns:a16="http://schemas.microsoft.com/office/drawing/2014/main" val="3858943495"/>
                    </a:ext>
                  </a:extLst>
                </a:gridCol>
                <a:gridCol w="5860519">
                  <a:extLst>
                    <a:ext uri="{9D8B030D-6E8A-4147-A177-3AD203B41FA5}">
                      <a16:colId xmlns:a16="http://schemas.microsoft.com/office/drawing/2014/main" val="1156284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38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lag_7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Captures weekly demand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8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rolling_7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Smooths short-term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13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dow_sin</a:t>
                      </a:r>
                      <a:r>
                        <a:rPr lang="en-US"/>
                        <a:t>/cos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Encodes routines cyclically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8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is_weekend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Behavioral shift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56765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8A22-FC4B-460A-021B-77CF880A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CF81-5543-4B66-9ADF-9BDC451DD8FB}" type="datetime1"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68992C-259F-DE1B-4887-9F8E0EA7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E46BE-4AD9-019F-43DC-18BE0B12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28532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87CB-D52D-F06C-7BE8-B87223D8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 of self-created variables on sales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428639-AF8F-1125-E6A3-53A0604E74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2800" y="2324238"/>
            <a:ext cx="4995863" cy="354778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840CAB-EC36-007D-B7C1-400B402C5E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94438" y="2312965"/>
            <a:ext cx="5027612" cy="35703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9BA27-FA66-4DA0-0C31-26CA6DC8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8FD99-0125-3FE7-24F7-8B850E7F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88401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38B8-D847-83F4-067B-4962583E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Variables linear Prediction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52DA7-D363-335B-8B04-EC74D909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F145-1F5F-4937-8BA1-2AA29269FCF2}" type="datetime1"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7762-A308-B4EC-C045-5AF1CEAC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8B676-EA2A-B6E5-D9A7-922985F8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7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36B806-9E7F-48E8-7B03-17424691B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" b="33029"/>
          <a:stretch>
            <a:fillRect/>
          </a:stretch>
        </p:blipFill>
        <p:spPr>
          <a:xfrm>
            <a:off x="294543" y="1481765"/>
            <a:ext cx="5937876" cy="38929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EBFB9-5480-22CC-8FE1-7EBB8FD0E455}"/>
              </a:ext>
            </a:extLst>
          </p:cNvPr>
          <p:cNvSpPr txBox="1"/>
          <p:nvPr/>
        </p:nvSpPr>
        <p:spPr>
          <a:xfrm>
            <a:off x="6312370" y="2262481"/>
            <a:ext cx="485422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</a:rPr>
              <a:t>From all parameters tested, the one with the most relevant effect was only temperature/ product group. All other possible variables tested, included holidays, days of the week, precipitation (using data from </a:t>
            </a:r>
            <a:r>
              <a:rPr lang="en-US" err="1">
                <a:latin typeface="Aptos"/>
              </a:rPr>
              <a:t>Holtenau</a:t>
            </a:r>
            <a:r>
              <a:rPr lang="en-US">
                <a:latin typeface="Aptos"/>
              </a:rPr>
              <a:t>-Kiel weather station). The test was run variable/ product group, or temperature/ extra variable/ product group , all variables/product group.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1A57E-D9A1-A87A-4241-A8B1C69C4235}"/>
              </a:ext>
            </a:extLst>
          </p:cNvPr>
          <p:cNvSpPr txBox="1"/>
          <p:nvPr/>
        </p:nvSpPr>
        <p:spPr>
          <a:xfrm>
            <a:off x="6312370" y="4830703"/>
            <a:ext cx="48542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800" kern="1200">
                <a:latin typeface="Aptos"/>
                <a:ea typeface="+mn-ea"/>
                <a:cs typeface="+mn-cs"/>
              </a:rPr>
              <a:t>Parameters : </a:t>
            </a:r>
            <a:r>
              <a:rPr lang="en-GB" sz="1800" kern="1200">
                <a:latin typeface="Aptos"/>
                <a:ea typeface="+mn-ea"/>
                <a:cs typeface="+mn-cs"/>
              </a:rPr>
              <a:t>features = ["Temperature", "Product Group"]</a:t>
            </a:r>
            <a:endParaRPr lang="en-GB" sz="1800" kern="1200">
              <a:latin typeface="Aptos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1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3C95-312B-81E6-B572-5666066C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574C-ED28-45D1-FE9C-C52C3D85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Outliers analysis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17777-7805-B7CE-5DD2-A0A6BADB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F145-1F5F-4937-8BA1-2AA29269FCF2}" type="datetime1"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B999C-B335-2B2B-664B-E805DA1D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0EFD9-B1F1-4D5A-1CDD-1393990A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8D5BC-3A2B-8C47-30BB-F8D40866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72" y="1962713"/>
            <a:ext cx="8028215" cy="29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3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6431-1AAC-BF6D-B35C-B1FC6482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Model Optimization</a:t>
            </a:r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6154D0D-9C86-A5F8-87C6-6857857B7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883" y="2078270"/>
            <a:ext cx="4572111" cy="368641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9CE2-758D-FF09-BE8F-086D5F1F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091E6-BC68-9C70-AFEC-EF1093E2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C82B4-32E6-F303-6591-3FBCAA7EF29D}"/>
              </a:ext>
            </a:extLst>
          </p:cNvPr>
          <p:cNvSpPr txBox="1"/>
          <p:nvPr/>
        </p:nvSpPr>
        <p:spPr>
          <a:xfrm>
            <a:off x="5539267" y="2082866"/>
            <a:ext cx="617190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Linear Model Equation: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Umsatz_hat = 207.47 + (-0.56 * </a:t>
            </a:r>
            <a:r>
              <a:rPr lang="en-US" err="1">
                <a:ea typeface="+mn-lt"/>
                <a:cs typeface="+mn-lt"/>
              </a:rPr>
              <a:t>Temperatur</a:t>
            </a:r>
            <a:r>
              <a:rPr lang="en-US">
                <a:ea typeface="+mn-lt"/>
                <a:cs typeface="+mn-lt"/>
              </a:rPr>
              <a:t>) + (-2.01 * </a:t>
            </a:r>
            <a:r>
              <a:rPr lang="en-US" err="1">
                <a:ea typeface="+mn-lt"/>
                <a:cs typeface="+mn-lt"/>
              </a:rPr>
              <a:t>Bewoelkung</a:t>
            </a:r>
            <a:r>
              <a:rPr lang="en-US">
                <a:ea typeface="+mn-lt"/>
                <a:cs typeface="+mn-lt"/>
              </a:rPr>
              <a:t>) + (0.03 * </a:t>
            </a:r>
            <a:r>
              <a:rPr lang="en-US" err="1">
                <a:ea typeface="+mn-lt"/>
                <a:cs typeface="+mn-lt"/>
              </a:rPr>
              <a:t>Windgeschwindigkeit</a:t>
            </a:r>
            <a:r>
              <a:rPr lang="en-US">
                <a:ea typeface="+mn-lt"/>
                <a:cs typeface="+mn-lt"/>
              </a:rPr>
              <a:t>) + (-0.70 * </a:t>
            </a:r>
            <a:r>
              <a:rPr lang="en-US" err="1">
                <a:ea typeface="+mn-lt"/>
                <a:cs typeface="+mn-lt"/>
              </a:rPr>
              <a:t>Wettercode</a:t>
            </a:r>
            <a:r>
              <a:rPr lang="en-US">
                <a:ea typeface="+mn-lt"/>
                <a:cs typeface="+mn-lt"/>
              </a:rPr>
              <a:t>) + (2.77 * </a:t>
            </a:r>
            <a:r>
              <a:rPr lang="en-US" err="1">
                <a:ea typeface="+mn-lt"/>
                <a:cs typeface="+mn-lt"/>
              </a:rPr>
              <a:t>KielerWoche</a:t>
            </a:r>
            <a:r>
              <a:rPr lang="en-US">
                <a:ea typeface="+mn-lt"/>
                <a:cs typeface="+mn-lt"/>
              </a:rPr>
              <a:t>) + (</a:t>
            </a:r>
            <a:r>
              <a:rPr lang="en-US">
                <a:solidFill>
                  <a:schemeClr val="accent2"/>
                </a:solidFill>
                <a:ea typeface="+mn-lt"/>
                <a:cs typeface="+mn-lt"/>
              </a:rPr>
              <a:t>19.00 </a:t>
            </a:r>
            <a:r>
              <a:rPr lang="en-US">
                <a:ea typeface="+mn-lt"/>
                <a:cs typeface="+mn-lt"/>
              </a:rPr>
              <a:t>* </a:t>
            </a:r>
            <a:r>
              <a:rPr lang="en-US" err="1">
                <a:ea typeface="+mn-lt"/>
                <a:cs typeface="+mn-lt"/>
              </a:rPr>
              <a:t>is_weekend</a:t>
            </a:r>
            <a:r>
              <a:rPr lang="en-US">
                <a:ea typeface="+mn-lt"/>
                <a:cs typeface="+mn-lt"/>
              </a:rPr>
              <a:t>) + (-1.95 * </a:t>
            </a:r>
            <a:r>
              <a:rPr lang="en-US" err="1">
                <a:ea typeface="+mn-lt"/>
                <a:cs typeface="+mn-lt"/>
              </a:rPr>
              <a:t>dow_sin</a:t>
            </a:r>
            <a:r>
              <a:rPr lang="en-US">
                <a:ea typeface="+mn-lt"/>
                <a:cs typeface="+mn-lt"/>
              </a:rPr>
              <a:t>) + (-2.05 * </a:t>
            </a:r>
            <a:r>
              <a:rPr lang="en-US" err="1">
                <a:ea typeface="+mn-lt"/>
                <a:cs typeface="+mn-lt"/>
              </a:rPr>
              <a:t>dow_cos</a:t>
            </a:r>
            <a:r>
              <a:rPr lang="en-US">
                <a:ea typeface="+mn-lt"/>
                <a:cs typeface="+mn-lt"/>
              </a:rPr>
              <a:t>) + (0.87 * </a:t>
            </a:r>
            <a:r>
              <a:rPr lang="en-US" err="1">
                <a:ea typeface="+mn-lt"/>
                <a:cs typeface="+mn-lt"/>
              </a:rPr>
              <a:t>doy_sin</a:t>
            </a:r>
            <a:r>
              <a:rPr lang="en-US">
                <a:ea typeface="+mn-lt"/>
                <a:cs typeface="+mn-lt"/>
              </a:rPr>
              <a:t>) + (-0.66 * </a:t>
            </a:r>
            <a:r>
              <a:rPr lang="en-US" err="1">
                <a:ea typeface="+mn-lt"/>
                <a:cs typeface="+mn-lt"/>
              </a:rPr>
              <a:t>doy_cos</a:t>
            </a:r>
            <a:r>
              <a:rPr lang="en-US">
                <a:ea typeface="+mn-lt"/>
                <a:cs typeface="+mn-lt"/>
              </a:rPr>
              <a:t>) + (14.32 * lag_1) + (17.08 * lag_7) + </a:t>
            </a:r>
            <a:r>
              <a:rPr lang="en-US">
                <a:solidFill>
                  <a:schemeClr val="accent2"/>
                </a:solidFill>
                <a:ea typeface="+mn-lt"/>
                <a:cs typeface="+mn-lt"/>
              </a:rPr>
              <a:t>(99.93 </a:t>
            </a:r>
            <a:r>
              <a:rPr lang="en-US">
                <a:ea typeface="+mn-lt"/>
                <a:cs typeface="+mn-lt"/>
              </a:rPr>
              <a:t>* rolling_7) + (4.09 * Warengruppe_2) + (0.19 * Warengruppe_3) + (-0.69 * Warengruppe_4) + (2.54 * Warengruppe_5) + (-0.42 * Warengruppe_6)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Adjusted R²: 0.879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6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1476-3661-C5FE-D956-7425E16F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 Optimization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1591E-3ACB-120A-41D1-DD7AEB65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576F1-B522-BC85-2DF8-C1D602BC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pic>
        <p:nvPicPr>
          <p:cNvPr id="7" name="Picture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98AC0E35-F187-7373-3359-87CD2734E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92" y="2183870"/>
            <a:ext cx="6686550" cy="2066925"/>
          </a:xfrm>
          <a:prstGeom prst="rect">
            <a:avLst/>
          </a:prstGeom>
        </p:spPr>
      </p:pic>
      <p:pic>
        <p:nvPicPr>
          <p:cNvPr id="8" name="Picture 7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24C727CE-7A62-DF97-A494-93A7D0EA2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75" y="4474809"/>
            <a:ext cx="6267450" cy="504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A86218-09AA-86EC-0406-9942E4FA9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11" y="5227814"/>
            <a:ext cx="80772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8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22A82-01A9-19AD-E5DA-6C6F0E38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BCC2-0385-78EB-E517-FA1C70111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AND VALIDATION PERFORMANCE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3E748FF-BCDA-A767-C17F-44875848E5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8038" y="2019300"/>
          <a:ext cx="10358436" cy="35413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89609">
                  <a:extLst>
                    <a:ext uri="{9D8B030D-6E8A-4147-A177-3AD203B41FA5}">
                      <a16:colId xmlns:a16="http://schemas.microsoft.com/office/drawing/2014/main" val="2737951842"/>
                    </a:ext>
                  </a:extLst>
                </a:gridCol>
                <a:gridCol w="2589609">
                  <a:extLst>
                    <a:ext uri="{9D8B030D-6E8A-4147-A177-3AD203B41FA5}">
                      <a16:colId xmlns:a16="http://schemas.microsoft.com/office/drawing/2014/main" val="5920854"/>
                    </a:ext>
                  </a:extLst>
                </a:gridCol>
                <a:gridCol w="2589609">
                  <a:extLst>
                    <a:ext uri="{9D8B030D-6E8A-4147-A177-3AD203B41FA5}">
                      <a16:colId xmlns:a16="http://schemas.microsoft.com/office/drawing/2014/main" val="4010288838"/>
                    </a:ext>
                  </a:extLst>
                </a:gridCol>
                <a:gridCol w="2589609">
                  <a:extLst>
                    <a:ext uri="{9D8B030D-6E8A-4147-A177-3AD203B41FA5}">
                      <a16:colId xmlns:a16="http://schemas.microsoft.com/office/drawing/2014/main" val="16865503"/>
                    </a:ext>
                  </a:extLst>
                </a:gridCol>
              </a:tblGrid>
              <a:tr h="36944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venir Next LT Pro" panose="020B0504020202020204" pitchFamily="34" charset="0"/>
                        </a:rPr>
                        <a:t>MODEL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54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venir Next LT Pro" panose="020B0504020202020204" pitchFamily="34" charset="0"/>
                        </a:rPr>
                        <a:t>RMSE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54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venir Next LT Pro" panose="020B0504020202020204" pitchFamily="34" charset="0"/>
                        </a:rPr>
                        <a:t>MAE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54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venir Next LT Pro" panose="020B0504020202020204" pitchFamily="34" charset="0"/>
                        </a:rPr>
                        <a:t>R2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657676"/>
                  </a:ext>
                </a:extLst>
              </a:tr>
              <a:tr h="92363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0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Baseline (Weather Only)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129.14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104.27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0.048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0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22091"/>
                  </a:ext>
                </a:extLst>
              </a:tr>
              <a:tr h="120073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1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Linear Regression (Engineered)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44.75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31.64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0.880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79745"/>
                  </a:ext>
                </a:extLst>
              </a:tr>
              <a:tr h="92363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2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Neural Net (Engineered)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39.77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26.29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31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0.906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2017" marR="132017" marT="66008" marB="66008">
                    <a:lnL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0523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6EF7-2819-D469-663E-1CE2FA38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028D7-3756-1A8E-526E-2BDBBCFB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281259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E362-47F4-ADBE-0C8C-CFBFE4C7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033337"/>
          </a:xfrm>
        </p:spPr>
        <p:txBody>
          <a:bodyPr>
            <a:normAutofit fontScale="90000"/>
          </a:bodyPr>
          <a:lstStyle/>
          <a:p>
            <a:r>
              <a:rPr lang="en-US"/>
              <a:t>Model Performance (MAPE) for different product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D6A6D-1F4B-AD01-78A9-74181392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1643122"/>
            <a:ext cx="10357666" cy="4490978"/>
          </a:xfrm>
        </p:spPr>
        <p:txBody>
          <a:bodyPr/>
          <a:lstStyle/>
          <a:p>
            <a:r>
              <a:rPr lang="en-US"/>
              <a:t>Overall NN MAPE = 16.0%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72B02C-1459-3781-D94E-884BF2FB5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94868"/>
              </p:ext>
            </p:extLst>
          </p:nvPr>
        </p:nvGraphicFramePr>
        <p:xfrm>
          <a:off x="1212815" y="2200950"/>
          <a:ext cx="5500916" cy="39394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50458">
                  <a:extLst>
                    <a:ext uri="{9D8B030D-6E8A-4147-A177-3AD203B41FA5}">
                      <a16:colId xmlns:a16="http://schemas.microsoft.com/office/drawing/2014/main" val="3455525939"/>
                    </a:ext>
                  </a:extLst>
                </a:gridCol>
                <a:gridCol w="2750458">
                  <a:extLst>
                    <a:ext uri="{9D8B030D-6E8A-4147-A177-3AD203B41FA5}">
                      <a16:colId xmlns:a16="http://schemas.microsoft.com/office/drawing/2014/main" val="694515641"/>
                    </a:ext>
                  </a:extLst>
                </a:gridCol>
              </a:tblGrid>
              <a:tr h="65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607423"/>
                  </a:ext>
                </a:extLst>
              </a:tr>
              <a:tr h="65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567960"/>
                  </a:ext>
                </a:extLst>
              </a:tr>
              <a:tr h="65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890695"/>
                  </a:ext>
                </a:extLst>
              </a:tr>
              <a:tr h="65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Croissant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107196"/>
                  </a:ext>
                </a:extLst>
              </a:tr>
              <a:tr h="65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Confectionery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1230"/>
                  </a:ext>
                </a:extLst>
              </a:tr>
              <a:tr h="65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41023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6444-BA7B-B20D-311D-0B811D1B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ABD06-3D40-B19F-BF7D-E11FB472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273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087E-2A16-A8A3-B6B1-BB77F22A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4" y="-388015"/>
            <a:ext cx="10357666" cy="1438450"/>
          </a:xfrm>
        </p:spPr>
        <p:txBody>
          <a:bodyPr/>
          <a:lstStyle/>
          <a:p>
            <a:r>
              <a:rPr lang="en-US"/>
              <a:t>Best Improvement VS Worst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0496-263E-6AB4-FEE6-6BC499E22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25" y="1239578"/>
            <a:ext cx="11606991" cy="48147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sz="1600" b="1"/>
              <a:t>1. Best Improvement Case</a:t>
            </a:r>
            <a:endParaRPr lang="en-US" sz="1600"/>
          </a:p>
          <a:p>
            <a:pPr>
              <a:buFont typeface="Arial,Sans-Serif"/>
              <a:buChar char="•"/>
            </a:pPr>
            <a:r>
              <a:rPr lang="en-US" sz="1600"/>
              <a:t>Sales follow </a:t>
            </a:r>
            <a:r>
              <a:rPr lang="en-US" sz="1600" b="1"/>
              <a:t>stable weekly patterns</a:t>
            </a:r>
            <a:r>
              <a:rPr lang="en-US" sz="1600"/>
              <a:t> and </a:t>
            </a:r>
            <a:r>
              <a:rPr lang="en-US" sz="1600" b="1"/>
              <a:t>short-term momentum</a:t>
            </a:r>
            <a:r>
              <a:rPr lang="en-US" sz="1600"/>
              <a:t>.</a:t>
            </a:r>
          </a:p>
          <a:p>
            <a:pPr>
              <a:buFont typeface="Arial,Sans-Serif"/>
              <a:buChar char="•"/>
            </a:pPr>
            <a:r>
              <a:rPr lang="en-US" sz="1600"/>
              <a:t>Lag and rolling features align well with observed patterns.</a:t>
            </a:r>
          </a:p>
          <a:p>
            <a:pPr>
              <a:buFont typeface="Arial,Sans-Serif"/>
              <a:buChar char="•"/>
            </a:pPr>
            <a:r>
              <a:rPr lang="en-US" sz="1600" b="1"/>
              <a:t>Linear model:</a:t>
            </a:r>
            <a:r>
              <a:rPr lang="en-US" sz="1600"/>
              <a:t> underestimates the interaction.</a:t>
            </a:r>
          </a:p>
          <a:p>
            <a:pPr>
              <a:buFont typeface="Arial,Sans-Serif"/>
              <a:buChar char="•"/>
            </a:pPr>
            <a:r>
              <a:rPr lang="en-US" sz="1600" b="1"/>
              <a:t>Neural network:</a:t>
            </a:r>
            <a:r>
              <a:rPr lang="en-US" sz="1600"/>
              <a:t> captures both routine and momentum → </a:t>
            </a:r>
            <a:r>
              <a:rPr lang="en-US" sz="1600" b="1"/>
              <a:t>significantly lower prediction error</a:t>
            </a:r>
            <a:r>
              <a:rPr lang="en-US" sz="1600"/>
              <a:t>.</a:t>
            </a:r>
          </a:p>
          <a:p>
            <a:pPr>
              <a:buFont typeface="Arial,Sans-Serif"/>
              <a:buChar char="•"/>
            </a:pPr>
            <a:r>
              <a:rPr lang="en-US" sz="1600" b="1"/>
              <a:t>Takeaway:</a:t>
            </a:r>
            <a:r>
              <a:rPr lang="en-US" sz="1600"/>
              <a:t> Neural networks excel when patterns are </a:t>
            </a:r>
            <a:r>
              <a:rPr lang="en-US" sz="1600" b="1"/>
              <a:t>consistent and predictable</a:t>
            </a:r>
            <a:r>
              <a:rPr lang="en-US" sz="1600"/>
              <a:t>.</a:t>
            </a:r>
          </a:p>
          <a:p>
            <a:pPr indent="0">
              <a:buNone/>
            </a:pPr>
            <a:br>
              <a:rPr lang="en-US" sz="1600"/>
            </a:br>
            <a:endParaRPr lang="en-US" sz="1600"/>
          </a:p>
          <a:p>
            <a:pPr>
              <a:buNone/>
            </a:pPr>
            <a:r>
              <a:rPr lang="en-US" sz="1600" b="1"/>
              <a:t>2. Worst Failure Case</a:t>
            </a:r>
            <a:endParaRPr lang="en-US" sz="1600"/>
          </a:p>
          <a:p>
            <a:pPr>
              <a:buFont typeface="Arial,Sans-Serif"/>
              <a:buChar char="•"/>
            </a:pPr>
            <a:r>
              <a:rPr lang="en-US" sz="1600"/>
              <a:t>Sales deviate sharply from weekly patterns and rolling averages.</a:t>
            </a:r>
          </a:p>
          <a:p>
            <a:pPr>
              <a:buFont typeface="Arial,Sans-Serif"/>
              <a:buChar char="•"/>
            </a:pPr>
            <a:r>
              <a:rPr lang="en-US" sz="1600"/>
              <a:t>Often caused by </a:t>
            </a:r>
            <a:r>
              <a:rPr lang="en-US" sz="1600" b="1"/>
              <a:t>irregular events</a:t>
            </a:r>
            <a:r>
              <a:rPr lang="en-US" sz="1600"/>
              <a:t> or </a:t>
            </a:r>
            <a:r>
              <a:rPr lang="en-US" sz="1600" b="1"/>
              <a:t>sudden demand shifts</a:t>
            </a:r>
            <a:r>
              <a:rPr lang="en-US" sz="1600"/>
              <a:t>.</a:t>
            </a:r>
          </a:p>
          <a:p>
            <a:pPr>
              <a:buFont typeface="Arial,Sans-Serif"/>
              <a:buChar char="•"/>
            </a:pPr>
            <a:r>
              <a:rPr lang="en-US" sz="1600"/>
              <a:t>Both linear and neural models struggle → </a:t>
            </a:r>
            <a:r>
              <a:rPr lang="en-US" sz="1600" b="1"/>
              <a:t>high prediction error</a:t>
            </a:r>
            <a:r>
              <a:rPr lang="en-US" sz="1600"/>
              <a:t>.</a:t>
            </a:r>
          </a:p>
          <a:p>
            <a:pPr>
              <a:buFont typeface="Arial,Sans-Serif"/>
              <a:buChar char="•"/>
            </a:pPr>
            <a:r>
              <a:rPr lang="en-US" sz="1600" b="1"/>
              <a:t>Takeaway:</a:t>
            </a:r>
            <a:r>
              <a:rPr lang="en-US" sz="1600"/>
              <a:t> Time-based features alone cannot handle </a:t>
            </a:r>
            <a:r>
              <a:rPr lang="en-US" sz="1600" b="1"/>
              <a:t>unexpected or irregular events</a:t>
            </a:r>
            <a:r>
              <a:rPr lang="en-US" sz="1600"/>
              <a:t>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FC95E-4361-6745-A6F3-93AE05C4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2DFD7-0707-7CB2-5211-7AD142FB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51023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E599-07C5-1406-338E-A0C442622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59" y="577776"/>
            <a:ext cx="10357666" cy="1438450"/>
          </a:xfrm>
        </p:spPr>
        <p:txBody>
          <a:bodyPr>
            <a:normAutofit fontScale="90000"/>
          </a:bodyPr>
          <a:lstStyle/>
          <a:p>
            <a:r>
              <a:rPr lang="en-US"/>
              <a:t>Other models: Ridge, XG BOOST, </a:t>
            </a:r>
            <a:r>
              <a:rPr lang="en-US" err="1"/>
              <a:t>rANDOM</a:t>
            </a:r>
            <a:r>
              <a:rPr lang="en-US"/>
              <a:t> FOREST, LIGHT GM, ENSEMBLE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EB289-1243-3746-778C-FD07D572B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100">
              <a:solidFill>
                <a:srgbClr val="6A9955"/>
              </a:solidFill>
              <a:highlight>
                <a:srgbClr val="1F1F1F"/>
              </a:highlight>
              <a:latin typeface="Consolas"/>
            </a:endParaRP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FC177-1775-888B-DEBB-2E81B0D6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70B31-0B28-60A8-3028-536FBEB1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AB2B8-D155-89F1-8968-D814CBE1B5C0}"/>
              </a:ext>
            </a:extLst>
          </p:cNvPr>
          <p:cNvSpPr txBox="1"/>
          <p:nvPr/>
        </p:nvSpPr>
        <p:spPr>
          <a:xfrm>
            <a:off x="659740" y="2025594"/>
            <a:ext cx="1048724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Feature Engineering: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Temporal: Day of week, day of year, weekend indicator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Cyclical: Weekly &amp; yearly patterns (sin/cos transformations)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Lagged &amp; Rolling: Past 1 &amp; 7 days’ sales, 7-day rolling average</a:t>
            </a:r>
            <a:endParaRPr lang="en-US"/>
          </a:p>
          <a:p>
            <a:endParaRPr lang="en-US" b="1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Models: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Ridge Regression: Handles correlated features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Random Forest: Captures non-linear patterns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&amp; </a:t>
            </a:r>
            <a:r>
              <a:rPr lang="en-US" err="1">
                <a:ea typeface="+mn-lt"/>
                <a:cs typeface="+mn-lt"/>
              </a:rPr>
              <a:t>LightGBM</a:t>
            </a:r>
            <a:r>
              <a:rPr lang="en-US">
                <a:ea typeface="+mn-lt"/>
                <a:cs typeface="+mn-lt"/>
              </a:rPr>
              <a:t>: Gradient boosting, efficient on large datasets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Ensemble: Averages predictions for higher accuracy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59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4C08-FE8C-4B07-143B-73248121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26069-3789-19B5-90A3-8CAA136F5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92" y="326950"/>
            <a:ext cx="10357666" cy="41148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Past sales dominate: Lag features contribute ~90% of predictive power</a:t>
            </a:r>
            <a:endParaRPr lang="en-US"/>
          </a:p>
          <a:p>
            <a:r>
              <a:rPr lang="en-US">
                <a:ea typeface="+mj-lt"/>
                <a:cs typeface="+mj-lt"/>
              </a:rPr>
              <a:t>Weather, events, and temporal features improve accuracy but are less critical</a:t>
            </a:r>
            <a:endParaRPr lang="en-US"/>
          </a:p>
          <a:p>
            <a:r>
              <a:rPr lang="en-US">
                <a:ea typeface="+mj-lt"/>
                <a:cs typeface="+mj-lt"/>
              </a:rPr>
              <a:t>Ensemble predictions are more stable than individual models</a:t>
            </a:r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C3F1B-FC46-1233-A1AE-563073A7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5A7A0-36C0-5723-717E-EEA81D8B3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pic>
        <p:nvPicPr>
          <p:cNvPr id="6" name="Picture 5" descr="A graph with a red rectangle&#10;&#10;AI-generated content may be incorrect.">
            <a:extLst>
              <a:ext uri="{FF2B5EF4-FFF2-40B4-BE49-F238E27FC236}">
                <a16:creationId xmlns:a16="http://schemas.microsoft.com/office/drawing/2014/main" id="{6A0B683B-A710-EF14-63FB-3FB8833A0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974" y="2312581"/>
            <a:ext cx="6007936" cy="359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63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29BEC-E2D7-684F-7364-26040C6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497DCA56-BBE2-4915-7FDA-304D6DE18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611" y="899455"/>
            <a:ext cx="8116186" cy="46975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0C15A-F987-311C-9FEA-2A7E21F9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C9DCC-39BD-DE63-F826-ED0BB072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067891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71C8-D5E6-BD47-F4B9-C3AEDDAF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9F8B7C-6CC3-3091-9476-D8E6C4E89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891" y="992993"/>
            <a:ext cx="9170581" cy="45636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DAFCB-A532-9497-E3E3-CE1AFB61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BCDCD-E0DD-7A50-9B37-E3CE290C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92292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AF5C5-9189-B2E2-165B-C5DDC852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AC8A-97C7-60D6-229B-A259CD24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21" y="285381"/>
            <a:ext cx="10348806" cy="703032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4ADA-35D5-8DB2-C43C-CF524FB5C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522" y="1071229"/>
            <a:ext cx="10942455" cy="52134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Font typeface="Arial"/>
              <a:buChar char="•"/>
            </a:pPr>
            <a:r>
              <a:rPr lang="en-US" b="1">
                <a:ea typeface="+mj-lt"/>
                <a:cs typeface="+mj-lt"/>
              </a:rPr>
              <a:t>Past sales are the main predictor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Lag and rolling features explain ~90% of sales dynamics.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Simple linear models already capture most patterns.</a:t>
            </a:r>
            <a:endParaRPr lang="en-US"/>
          </a:p>
          <a:p>
            <a:pPr>
              <a:buSzPct val="100000"/>
              <a:buFont typeface="Arial"/>
              <a:buChar char="•"/>
            </a:pPr>
            <a:r>
              <a:rPr lang="en-US" b="1">
                <a:ea typeface="+mj-lt"/>
                <a:cs typeface="+mj-lt"/>
              </a:rPr>
              <a:t>Feature engineering improves accuracy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Temporal features (weekday, day of year, weekend) and cyclical encoding help capture routine patterns.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Event features (Kieler </a:t>
            </a:r>
            <a:r>
              <a:rPr lang="en-US" err="1">
                <a:ea typeface="+mj-lt"/>
                <a:cs typeface="+mj-lt"/>
              </a:rPr>
              <a:t>Woche</a:t>
            </a:r>
            <a:r>
              <a:rPr lang="en-US">
                <a:ea typeface="+mj-lt"/>
                <a:cs typeface="+mj-lt"/>
              </a:rPr>
              <a:t>) add small but meaningful improvements.</a:t>
            </a:r>
            <a:endParaRPr lang="en-US"/>
          </a:p>
          <a:p>
            <a:pPr>
              <a:buSzPct val="100000"/>
              <a:buFont typeface="Arial"/>
              <a:buChar char="•"/>
            </a:pPr>
            <a:r>
              <a:rPr lang="en-US" b="1">
                <a:ea typeface="+mj-lt"/>
                <a:cs typeface="+mj-lt"/>
              </a:rPr>
              <a:t>Neural networks capture nonlinear effects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Further reduce error compared to linear regression.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Particularly effective when sales patterns are stable and predictable.</a:t>
            </a:r>
            <a:endParaRPr lang="en-US"/>
          </a:p>
          <a:p>
            <a:pPr>
              <a:buSzPct val="100000"/>
              <a:buFont typeface="Arial"/>
              <a:buChar char="•"/>
            </a:pPr>
            <a:r>
              <a:rPr lang="en-US" b="1">
                <a:ea typeface="+mj-lt"/>
                <a:cs typeface="+mj-lt"/>
              </a:rPr>
              <a:t>Limitations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Sudden or irregular demand spikes remain difficult to predict.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External factors beyond weather/events may still influence sales.</a:t>
            </a:r>
            <a:endParaRPr lang="en-US"/>
          </a:p>
          <a:p>
            <a:pPr>
              <a:buSzPct val="100000"/>
              <a:buFont typeface="Arial"/>
              <a:buChar char="•"/>
            </a:pPr>
            <a:r>
              <a:rPr lang="en-US" b="1">
                <a:ea typeface="+mj-lt"/>
                <a:cs typeface="+mj-lt"/>
              </a:rPr>
              <a:t>Practical Implications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ML models can support inventory planning and staffing decisions.</a:t>
            </a:r>
            <a:endParaRPr lang="en-US"/>
          </a:p>
          <a:p>
            <a:pPr marL="742950" lvl="1" indent="-285750">
              <a:buFont typeface="Avenir Next LT Pro Light"/>
              <a:buChar char="–"/>
            </a:pPr>
            <a:r>
              <a:rPr lang="en-US">
                <a:ea typeface="+mj-lt"/>
                <a:cs typeface="+mj-lt"/>
              </a:rPr>
              <a:t>Ensembles provide more stable and robust predictions than single models.</a:t>
            </a:r>
            <a:endParaRPr lang="en-US"/>
          </a:p>
          <a:p>
            <a:pPr>
              <a:buSzPct val="100000"/>
              <a:buFont typeface="Arial"/>
              <a:buChar char="•"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629AB-328D-E373-89F4-A47940FB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B3EF6-C18F-7BD6-E14D-AEE322B1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522928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F858B-2596-EF39-A908-7C6C0F6C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19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329F59-EB19-61CA-4A1A-6C922CC5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Science &amp;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21CA6-7BCA-C2D4-189B-FD83F1E87D6A}"/>
              </a:ext>
            </a:extLst>
          </p:cNvPr>
          <p:cNvSpPr txBox="1"/>
          <p:nvPr/>
        </p:nvSpPr>
        <p:spPr>
          <a:xfrm>
            <a:off x="3621974" y="2091376"/>
            <a:ext cx="474566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latin typeface="Batang"/>
                <a:ea typeface="Batang"/>
              </a:rPr>
              <a:t>THANK YOU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98185307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VeniceBeachVTI</vt:lpstr>
      <vt:lpstr>Predicting bakery sales</vt:lpstr>
      <vt:lpstr>Data overview</vt:lpstr>
      <vt:lpstr>What we focused on</vt:lpstr>
      <vt:lpstr>Handling missing values</vt:lpstr>
      <vt:lpstr>Self-created variables</vt:lpstr>
      <vt:lpstr>Effect of self-created variables on sales</vt:lpstr>
      <vt:lpstr>Variables linear Prediction </vt:lpstr>
      <vt:lpstr>Outliers analysis </vt:lpstr>
      <vt:lpstr>Linear Model Optimization</vt:lpstr>
      <vt:lpstr>Neural Network Optimization</vt:lpstr>
      <vt:lpstr>TRAINING AND VALIDATION PERFORMANCE</vt:lpstr>
      <vt:lpstr>Model Performance (MAPE) for different product groups</vt:lpstr>
      <vt:lpstr>Best Improvement VS Worst Fail</vt:lpstr>
      <vt:lpstr>Other models: Ridge, XG BOOST, rANDOM FOREST, LIGHT GM, ENSEMBLE </vt:lpstr>
      <vt:lpstr>PowerPoint Presentation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Vaishali Vinod</dc:creator>
  <cp:revision>2</cp:revision>
  <dcterms:created xsi:type="dcterms:W3CDTF">2026-01-02T22:50:50Z</dcterms:created>
  <dcterms:modified xsi:type="dcterms:W3CDTF">2026-01-27T09:42:11Z</dcterms:modified>
</cp:coreProperties>
</file>